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6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I8TzBLoimxJSbpkqRC5yNJxwX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4A603-F67F-4F52-954B-F830B75A120A}" v="6" dt="2026-09-22T18:12:21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>
        <p:guide orient="horz" pos="2160"/>
        <p:guide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734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429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734" y="8829429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5aa423c_0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f665aa42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f850ac44_0_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3f5f850ac4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73950" y="117975"/>
            <a:ext cx="1618674" cy="8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>
            <a:spLocks noGrp="1"/>
          </p:cNvSpPr>
          <p:nvPr>
            <p:ph type="title"/>
          </p:nvPr>
        </p:nvSpPr>
        <p:spPr>
          <a:xfrm>
            <a:off x="2393824" y="14002"/>
            <a:ext cx="435635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body" idx="1"/>
          </p:nvPr>
        </p:nvSpPr>
        <p:spPr>
          <a:xfrm>
            <a:off x="536153" y="1139189"/>
            <a:ext cx="53968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77300" y="49075"/>
            <a:ext cx="1618674" cy="8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6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2393824" y="14002"/>
            <a:ext cx="435635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2393824" y="14002"/>
            <a:ext cx="435635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0" y="4800599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2192000" h="457200" extrusionOk="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6"/>
          <p:cNvSpPr/>
          <p:nvPr/>
        </p:nvSpPr>
        <p:spPr>
          <a:xfrm>
            <a:off x="0" y="4750308"/>
            <a:ext cx="9144000" cy="50483"/>
          </a:xfrm>
          <a:custGeom>
            <a:avLst/>
            <a:gdLst/>
            <a:ahLst/>
            <a:cxnLst/>
            <a:rect l="l" t="t" r="r" b="b"/>
            <a:pathLst>
              <a:path w="12192000" h="67310" extrusionOk="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6"/>
          <p:cNvSpPr txBox="1">
            <a:spLocks noGrp="1"/>
          </p:cNvSpPr>
          <p:nvPr>
            <p:ph type="title"/>
          </p:nvPr>
        </p:nvSpPr>
        <p:spPr>
          <a:xfrm>
            <a:off x="2393824" y="14002"/>
            <a:ext cx="4356353" cy="6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5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body" idx="1"/>
          </p:nvPr>
        </p:nvSpPr>
        <p:spPr>
          <a:xfrm>
            <a:off x="536153" y="1139189"/>
            <a:ext cx="53968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88" y="940865"/>
            <a:ext cx="68884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rPr sz="2400" dirty="0"/>
              <a:t>AI/ML-Based Climate-Adaptive Shelter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8371" y="1403929"/>
            <a:ext cx="54104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rPr sz="2000" dirty="0"/>
              <a:t>for Thermal Comfort and Energy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457200" y="1839363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rPr dirty="0"/>
              <a:t>Technical 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6920" y="2386036"/>
            <a:ext cx="2690160" cy="140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rPr dirty="0"/>
              <a:t>Name:</a:t>
            </a:r>
            <a:r>
              <a:rPr lang="en-US" dirty="0"/>
              <a:t> Vaishakhi Palkar</a:t>
            </a:r>
          </a:p>
          <a:p>
            <a:pPr algn="ctr">
              <a:defRPr sz="1700"/>
            </a:pPr>
            <a:r>
              <a:rPr lang="en-US" dirty="0"/>
              <a:t>       Sneha Dubey</a:t>
            </a:r>
          </a:p>
          <a:p>
            <a:pPr>
              <a:defRPr sz="1700"/>
            </a:pPr>
            <a:r>
              <a:rPr lang="en-US" dirty="0"/>
              <a:t>              Vardhan Sharma</a:t>
            </a:r>
          </a:p>
          <a:p>
            <a:pPr>
              <a:defRPr sz="1700"/>
            </a:pPr>
            <a:r>
              <a:rPr lang="en-US" dirty="0"/>
              <a:t>              Sumit Mahajan</a:t>
            </a:r>
          </a:p>
          <a:p>
            <a:pPr>
              <a:defRPr sz="1700"/>
            </a:pPr>
            <a:r>
              <a:rPr lang="en-US" dirty="0"/>
              <a:t>                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514659" y="3702155"/>
            <a:ext cx="211468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rPr dirty="0"/>
              <a:t>Guide: </a:t>
            </a:r>
            <a:r>
              <a:rPr lang="en-US" dirty="0"/>
              <a:t>Amrut </a:t>
            </a:r>
            <a:r>
              <a:rPr lang="en-US" dirty="0" err="1"/>
              <a:t>nikam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-355601" y="4046119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rPr dirty="0"/>
              <a:t>Academic Year: 2026–27   |   Semester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57200" y="4401483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rPr dirty="0"/>
              <a:t>School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2437"/>
            <a:ext cx="12426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53160"/>
            <a:ext cx="105156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rPr sz="1800" dirty="0"/>
              <a:t>1. Introduction</a:t>
            </a:r>
          </a:p>
          <a:p>
            <a:pPr>
              <a:spcAft>
                <a:spcPts val="900"/>
              </a:spcAft>
              <a:defRPr sz="2200"/>
            </a:pPr>
            <a:r>
              <a:rPr sz="1800" dirty="0"/>
              <a:t>2. Problem Statement</a:t>
            </a:r>
          </a:p>
          <a:p>
            <a:pPr>
              <a:spcAft>
                <a:spcPts val="900"/>
              </a:spcAft>
              <a:defRPr sz="2200"/>
            </a:pPr>
            <a:r>
              <a:rPr sz="1800" dirty="0"/>
              <a:t>3. Objectives</a:t>
            </a:r>
          </a:p>
          <a:p>
            <a:pPr>
              <a:spcAft>
                <a:spcPts val="900"/>
              </a:spcAft>
              <a:defRPr sz="2200"/>
            </a:pPr>
            <a:r>
              <a:rPr sz="1800" dirty="0"/>
              <a:t>4. Literature Review</a:t>
            </a:r>
            <a:endParaRPr lang="en-US" sz="1800" dirty="0"/>
          </a:p>
          <a:p>
            <a:pPr>
              <a:spcAft>
                <a:spcPts val="900"/>
              </a:spcAft>
              <a:defRPr sz="2200"/>
            </a:pPr>
            <a:r>
              <a:rPr lang="en-IN" sz="1800" dirty="0"/>
              <a:t>5. Research Gap</a:t>
            </a:r>
            <a:endParaRPr sz="1800" dirty="0"/>
          </a:p>
          <a:p>
            <a:pPr>
              <a:spcAft>
                <a:spcPts val="900"/>
              </a:spcAft>
              <a:defRPr sz="2200"/>
            </a:pPr>
            <a:r>
              <a:rPr lang="en-IN" sz="1800" dirty="0"/>
              <a:t>6. </a:t>
            </a:r>
            <a:r>
              <a:rPr sz="1800" dirty="0"/>
              <a:t>5. Methodology</a:t>
            </a:r>
          </a:p>
          <a:p>
            <a:pPr>
              <a:spcAft>
                <a:spcPts val="900"/>
              </a:spcAft>
              <a:defRPr sz="2200"/>
            </a:pPr>
            <a:r>
              <a:rPr lang="en-IN" sz="1800" dirty="0"/>
              <a:t>7. </a:t>
            </a:r>
            <a:r>
              <a:rPr sz="1800" dirty="0"/>
              <a:t>Proposed System Architecture</a:t>
            </a:r>
          </a:p>
          <a:p>
            <a:pPr>
              <a:spcAft>
                <a:spcPts val="900"/>
              </a:spcAft>
              <a:defRPr sz="2200"/>
            </a:pPr>
            <a:r>
              <a:rPr lang="en-US" sz="1800" dirty="0"/>
              <a:t>8</a:t>
            </a:r>
            <a:r>
              <a:rPr sz="1800" dirty="0"/>
              <a:t>. Conclusion</a:t>
            </a:r>
          </a:p>
          <a:p>
            <a:pPr>
              <a:spcAft>
                <a:spcPts val="900"/>
              </a:spcAft>
              <a:defRPr sz="2200"/>
            </a:pPr>
            <a:r>
              <a:rPr lang="en-IN" sz="1800" dirty="0"/>
              <a:t>9. </a:t>
            </a:r>
            <a:r>
              <a:rPr sz="1800" dirty="0"/>
              <a:t>References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900" y="435520"/>
            <a:ext cx="19768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9900" y="1153160"/>
            <a:ext cx="82042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sz="1600" dirty="0"/>
              <a:t>Thermal comfort describes how satisfied a person feels with the surrounding thermal environment.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Comfort depends on temperature, humidity, air speed, radiation, clothing, activity and individual differences.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Traditional PMV/adaptive models may not fully capture individual and climate-specific variations.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Recent studies show that ML can learn complex relationships between environmental conditions and thermal sensation.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Most existing systems mainly predict comfort; the proposed work connects prediction to shelter-design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394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t>Predict comfort  →  Optimize shelter  →  Reduce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280" y="637846"/>
            <a:ext cx="29899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280" y="1981951"/>
            <a:ext cx="105156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sz="1600" dirty="0"/>
              <a:t>Many ML studies focus only on thermal-comfort prediction.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Performance can vary across people, datasets and climates.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Some approaches require costly physiological or thermal-camera data.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Random train-test splits may not demonstrate true cross-climate generalization.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Comfort predictions are not always converted into practical shelter-design recommendations.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Comfort and energy consumption are often treated as separate objectives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Key problem: How can ML predict comfort for a climate and recommend shelter parameters for high comfort with lower energy requirements?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58800"/>
            <a:ext cx="17411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Objectives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1630680"/>
            <a:ext cx="941324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sz="1600" dirty="0"/>
              <a:t>Develop an ML model for thermal-comfort prediction.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Compare Random Forest, </a:t>
            </a:r>
            <a:r>
              <a:rPr sz="1600" dirty="0" err="1"/>
              <a:t>XGBoost</a:t>
            </a:r>
            <a:r>
              <a:rPr sz="1600" dirty="0"/>
              <a:t>, SVM and ANN.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Incorporate climate, occupant and shelter parameters.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Evaluate cross-person and cross-climate generalization.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Optimize shelter parameters for high thermal comfort and low energy consumption.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Use SHAP/XAI to explain predictions and recommendations.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Develop a software-based decision-support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44823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Literature Review: 2021–2022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19628"/>
              </p:ext>
            </p:extLst>
          </p:nvPr>
        </p:nvGraphicFramePr>
        <p:xfrm>
          <a:off x="325120" y="1097280"/>
          <a:ext cx="8483601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7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Reported result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Fard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SVM, ANN, Ensemble;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ML often outperformed PMV/adaptive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RF Personal Sensation,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70.2%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Yang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SVM, DT, Ensemble, KNN + Bayesian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95.8%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Yu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SVM, DT, KNN,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83.6% professional / 75.4% practical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Feng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Review of personal comfort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Individual/data-quality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44823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Literature Review: 2023–2024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34447"/>
              </p:ext>
            </p:extLst>
          </p:nvPr>
        </p:nvGraphicFramePr>
        <p:xfrm>
          <a:off x="502920" y="1097280"/>
          <a:ext cx="8244840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Reported result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Baek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Thermal image + DCNN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96% accuracy/F1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Lan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XGBoost + BO +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80% main + 20% interaction effects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Zhang &amp; Li,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Transfer-learning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62.6%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Meta-learning,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MAML + ASHRAE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Personalized model with few votes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Kocaman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RF/KNN/DT/SVM + 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TS 83–99%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Tekler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CNN-LSTM + Active 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Improvement up to 11.3%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Jiao &amp; Tan,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Transfer learning + tropical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Localized tropical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Alam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RF/SVM + spatial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RF accuracy improvement 38.6%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03860"/>
            <a:ext cx="49455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Literature Review: </a:t>
            </a:r>
            <a:r>
              <a:rPr sz="2400" dirty="0"/>
              <a:t>2025–2026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697101"/>
              </p:ext>
            </p:extLst>
          </p:nvPr>
        </p:nvGraphicFramePr>
        <p:xfrm>
          <a:off x="502920" y="1356360"/>
          <a:ext cx="80924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Reported result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Li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SMOTE + BO + XGBoost +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85.81%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Interpretable ML,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Self-report + Random Forest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72% exact; 95.5% within ±1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Outdoor comfort review,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Review of 58 SML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RF frequently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Data-driven comfort review,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Review of datasets/models/metrics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Data/generalization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Hot-humid comfort,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MLP + 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Median humidity accuracy 0.815 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5ECB0D-0B57-91A5-ADCA-7F505C7EB5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EA1A3-04A7-53E6-62EC-74B01968CE5B}"/>
              </a:ext>
            </a:extLst>
          </p:cNvPr>
          <p:cNvSpPr txBox="1"/>
          <p:nvPr/>
        </p:nvSpPr>
        <p:spPr>
          <a:xfrm>
            <a:off x="650240" y="203200"/>
            <a:ext cx="428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/>
                </a:solidFill>
              </a:rPr>
              <a:t>Research</a:t>
            </a:r>
            <a:r>
              <a:rPr lang="en-IN" sz="2800" dirty="0"/>
              <a:t> </a:t>
            </a:r>
            <a:r>
              <a:rPr lang="en-IN" sz="2800" b="1" dirty="0">
                <a:solidFill>
                  <a:schemeClr val="bg2"/>
                </a:solidFill>
              </a:rPr>
              <a:t>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16026-74A3-D2A2-05E8-CE57B8B4CC09}"/>
              </a:ext>
            </a:extLst>
          </p:cNvPr>
          <p:cNvSpPr txBox="1"/>
          <p:nvPr/>
        </p:nvSpPr>
        <p:spPr>
          <a:xfrm>
            <a:off x="172720" y="726420"/>
            <a:ext cx="8798560" cy="4605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RESEARCH GAP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dirty="0"/>
              <a:t>Existing Research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dirty="0"/>
              <a:t>Machine Learning is widely used to predict thermal comfort.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dirty="0"/>
              <a:t>Several studies focus on personalized thermal comfort using occupant data.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dirty="0"/>
              <a:t>Transfer Learning is used to adapt models to different climates and environments.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dirty="0"/>
              <a:t>Explainable AI (XAI) techniques such as SHAP are used to understand model predictions.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dirty="0"/>
              <a:t>Some recent studies combine thermal comfort with energy optimization.</a:t>
            </a:r>
          </a:p>
          <a:p>
            <a:r>
              <a:rPr lang="en-IN" sz="1200" b="1" dirty="0"/>
              <a:t>Identified Gaps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b="1" dirty="0"/>
              <a:t>Limited Cross-Climate Generalization:</a:t>
            </a:r>
            <a:r>
              <a:rPr lang="en-IN" sz="1150" dirty="0"/>
              <a:t> Models trained in one climate may not perform equally well in another climate.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b="1" dirty="0"/>
              <a:t>Limited Real-World Validation:</a:t>
            </a:r>
            <a:r>
              <a:rPr lang="en-IN" sz="1150" dirty="0"/>
              <a:t> Many models are developed using existing datasets or controlled experiments rather than diverse real-world environments.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b="1" dirty="0"/>
              <a:t>High Data Requirement:</a:t>
            </a:r>
            <a:r>
              <a:rPr lang="en-IN" sz="1150" dirty="0"/>
              <a:t> Personalized models often require sufficient data from individual occupants.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b="1" dirty="0"/>
              <a:t>Prediction vs. Decision Making:</a:t>
            </a:r>
            <a:r>
              <a:rPr lang="en-IN" sz="1150" dirty="0"/>
              <a:t> Many studies predict comfort but do not directly recommend suitable </a:t>
            </a:r>
            <a:r>
              <a:rPr lang="en-IN" sz="1150" b="1" dirty="0"/>
              <a:t>shelter design parameters</a:t>
            </a:r>
            <a:r>
              <a:rPr lang="en-IN" sz="1150" dirty="0"/>
              <a:t>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b="1" dirty="0"/>
              <a:t>Separate Optimization:</a:t>
            </a:r>
            <a:r>
              <a:rPr lang="en-IN" sz="1150" dirty="0"/>
              <a:t> Thermal comfort, energy efficiency, and shelter design are often addressed separately.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50" b="1" dirty="0"/>
              <a:t>Limited Explainable Recommendations:</a:t>
            </a:r>
            <a:r>
              <a:rPr lang="en-IN" sz="1150" dirty="0"/>
              <a:t> There is a need to explain not only the comfort prediction but also </a:t>
            </a:r>
            <a:r>
              <a:rPr lang="en-IN" sz="1150" b="1" dirty="0"/>
              <a:t>why a particular shelter design is recommended</a:t>
            </a:r>
            <a:r>
              <a:rPr lang="en-IN" sz="1150" dirty="0"/>
              <a:t>.</a:t>
            </a:r>
          </a:p>
          <a:p>
            <a:endParaRPr lang="en-IN" sz="1150" dirty="0"/>
          </a:p>
        </p:txBody>
      </p:sp>
    </p:spTree>
    <p:extLst>
      <p:ext uri="{BB962C8B-B14F-4D97-AF65-F5344CB8AC3E}">
        <p14:creationId xmlns:p14="http://schemas.microsoft.com/office/powerpoint/2010/main" val="422753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8800" y="537210"/>
            <a:ext cx="20970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680" y="1725930"/>
            <a:ext cx="1290320" cy="75311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9139" y="1714500"/>
            <a:ext cx="1371601" cy="76454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4749" y="1714500"/>
            <a:ext cx="1554480" cy="76581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Feature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8632" y="1725930"/>
            <a:ext cx="1371599" cy="75311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RF / </a:t>
            </a:r>
            <a:r>
              <a:rPr dirty="0" err="1">
                <a:solidFill>
                  <a:schemeClr val="tx1"/>
                </a:solidFill>
              </a:rPr>
              <a:t>XGBoost</a:t>
            </a:r>
            <a:r>
              <a:rPr dirty="0">
                <a:solidFill>
                  <a:schemeClr val="tx1"/>
                </a:solidFill>
              </a:rPr>
              <a:t> / SVM / ANN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17070" y="3566160"/>
            <a:ext cx="1554480" cy="8001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Thermal Comfort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680" y="3577590"/>
            <a:ext cx="1483360" cy="78867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Cross-Climate &amp; Cross-Person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3571875"/>
            <a:ext cx="1371601" cy="794385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Multi-Objective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571875"/>
            <a:ext cx="1371599" cy="794385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Optimal Shelter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3716" y="3577590"/>
            <a:ext cx="1143000" cy="78867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SHAP / XAI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9951" y="1707515"/>
            <a:ext cx="1371599" cy="771525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Software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t>Data: ASHRAE Global Thermal Comfort Database II + regional weather/climate data + shelter design 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240" y="328315"/>
            <a:ext cx="52004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Proposed</a:t>
            </a:r>
            <a:r>
              <a:rPr dirty="0"/>
              <a:t>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0240" y="1074420"/>
            <a:ext cx="2316480" cy="7543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CLIMATE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13760" y="1074420"/>
            <a:ext cx="2316480" cy="7543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OCCUPANT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7280" y="1074420"/>
            <a:ext cx="2316480" cy="7543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SHELTER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1120" y="2051685"/>
            <a:ext cx="6543040" cy="520065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/>
                </a:solidFill>
              </a:rP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41120" y="2794635"/>
            <a:ext cx="6543040" cy="520065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/>
                </a:solidFill>
              </a:rPr>
              <a:t>ML MODEL → THERMAL COMFORT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1120" y="3537585"/>
            <a:ext cx="6543040" cy="520065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/>
                </a:solidFill>
              </a:rPr>
              <a:t>ENERGY ESTIMATION → MULTI-OBJECTIVE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1120" y="4280535"/>
            <a:ext cx="6543040" cy="520065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/>
                </a:solidFill>
              </a:rPr>
              <a:t>RECOMMENDED SHELTER DESIGN + SHAP/XAI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3560" y="351812"/>
            <a:ext cx="37850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Proposed </a:t>
            </a:r>
            <a:r>
              <a:rPr sz="2400" dirty="0"/>
              <a:t>Contribution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079418"/>
              </p:ext>
            </p:extLst>
          </p:nvPr>
        </p:nvGraphicFramePr>
        <p:xfrm>
          <a:off x="414020" y="1191262"/>
          <a:ext cx="8364220" cy="3708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77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Existing research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Proposed system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Predicts comfort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Predicts + recommends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Often one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Cross-climate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Individual comfort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Climate + occupant + shelter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7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Comfort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Comfort + energy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7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XAI explains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XAI explains design 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7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Model-centric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Decision-support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Key contribution: Integrated climate-adaptive decision-support framework for shelter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1389"/>
            <a:ext cx="18582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Conclusion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70840" y="1656080"/>
            <a:ext cx="88646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sz="1600" dirty="0"/>
              <a:t>ML provides a promising approach for predicting thermal comfort.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Existing research includes RF, SVM, ANN, </a:t>
            </a:r>
            <a:r>
              <a:rPr sz="1600" dirty="0" err="1"/>
              <a:t>XGBoost</a:t>
            </a:r>
            <a:r>
              <a:rPr sz="1600" dirty="0"/>
              <a:t>, CNN, Transformers and personalized models.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Major challenges remain in generalization, data availability, climate variation and practical deployment.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The proposed system combines ML comfort prediction, cross-climate validation, shelter-design optimization, energy consideration and Explainable AI.</a:t>
            </a:r>
          </a:p>
          <a:p>
            <a:pPr>
              <a:spcAft>
                <a:spcPts val="900"/>
              </a:spcAft>
              <a:defRPr sz="1800"/>
            </a:pPr>
            <a:r>
              <a:rPr sz="1600" dirty="0"/>
              <a:t>The final output is a software-based recommendation system for climate-adaptive shelter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Future work: Real-world sensor validation and local Indian climate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3720" y="389969"/>
            <a:ext cx="18469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400" dirty="0"/>
              <a:t>References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64160" y="1105863"/>
            <a:ext cx="735584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/>
            </a:pPr>
            <a:r>
              <a:rPr sz="1100" dirty="0"/>
              <a:t>1. Fard et al., 2021 — Application of machine learning in thermal comfort studies.</a:t>
            </a:r>
          </a:p>
          <a:p>
            <a:pPr>
              <a:spcAft>
                <a:spcPts val="600"/>
              </a:spcAft>
              <a:defRPr sz="1050"/>
            </a:pPr>
            <a:r>
              <a:rPr sz="1100" dirty="0"/>
              <a:t>2. Random Forest Classification Algorithm Based Personal Thermal Sensation Model, 2021.</a:t>
            </a:r>
          </a:p>
          <a:p>
            <a:pPr>
              <a:spcAft>
                <a:spcPts val="600"/>
              </a:spcAft>
              <a:defRPr sz="1050"/>
            </a:pPr>
            <a:r>
              <a:rPr sz="1100" dirty="0"/>
              <a:t>3. Yang et al., 2022 — Comparison of models for predicting winter individual thermal comfort.</a:t>
            </a:r>
          </a:p>
          <a:p>
            <a:pPr>
              <a:spcAft>
                <a:spcPts val="600"/>
              </a:spcAft>
              <a:defRPr sz="1050"/>
            </a:pPr>
            <a:r>
              <a:rPr sz="1100" dirty="0"/>
              <a:t>4. Yu et al., 2022 — </a:t>
            </a:r>
            <a:r>
              <a:rPr sz="1200" dirty="0"/>
              <a:t>Performances</a:t>
            </a:r>
            <a:r>
              <a:rPr sz="1100" dirty="0"/>
              <a:t> of ML algorithms for individual thermal comfort prediction.</a:t>
            </a:r>
          </a:p>
          <a:p>
            <a:pPr>
              <a:spcAft>
                <a:spcPts val="600"/>
              </a:spcAft>
              <a:defRPr sz="1050"/>
            </a:pPr>
            <a:r>
              <a:rPr sz="1100" dirty="0"/>
              <a:t>5. Feng et al., 2022 — Data-driven personal thermal comfort prediction: A literature review.</a:t>
            </a:r>
          </a:p>
          <a:p>
            <a:pPr>
              <a:spcAft>
                <a:spcPts val="600"/>
              </a:spcAft>
              <a:defRPr sz="1050"/>
            </a:pPr>
            <a:r>
              <a:rPr sz="1100" dirty="0"/>
              <a:t>6. Baek et al., 2023 — Vision-based personal thermal comfort prediction.</a:t>
            </a:r>
          </a:p>
          <a:p>
            <a:pPr>
              <a:spcAft>
                <a:spcPts val="600"/>
              </a:spcAft>
              <a:defRPr sz="1050"/>
            </a:pPr>
            <a:r>
              <a:rPr sz="1100" dirty="0"/>
              <a:t>7. Lan et al., 2023 — Individual difference and human-environment interaction.</a:t>
            </a:r>
          </a:p>
          <a:p>
            <a:pPr>
              <a:spcAft>
                <a:spcPts val="600"/>
              </a:spcAft>
              <a:defRPr sz="1050"/>
            </a:pPr>
            <a:r>
              <a:rPr sz="1100" dirty="0"/>
              <a:t>8. Zhang &amp; Li, 2023 — Transfer Learning in the Transformer Model for Thermal Comfort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160" y="3038952"/>
            <a:ext cx="71729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/>
            </a:pPr>
            <a:r>
              <a:rPr sz="1200" dirty="0"/>
              <a:t>9. Meta-learning of personalized thermal comfort model, 2023.</a:t>
            </a:r>
          </a:p>
          <a:p>
            <a:pPr>
              <a:spcAft>
                <a:spcPts val="600"/>
              </a:spcAft>
              <a:defRPr sz="1050"/>
            </a:pPr>
            <a:r>
              <a:rPr sz="1200" dirty="0"/>
              <a:t>10. Kocaman et al., 2024 — ML thermal comfort prediction using demographic characteristics.</a:t>
            </a:r>
          </a:p>
          <a:p>
            <a:pPr>
              <a:spcAft>
                <a:spcPts val="600"/>
              </a:spcAft>
              <a:defRPr sz="1050"/>
            </a:pPr>
            <a:r>
              <a:rPr sz="1200" dirty="0"/>
              <a:t>11. </a:t>
            </a:r>
            <a:r>
              <a:rPr sz="1200" dirty="0" err="1"/>
              <a:t>Tekler</a:t>
            </a:r>
            <a:r>
              <a:rPr sz="1200" dirty="0"/>
              <a:t> et al., 2024 — Data-efficient comfort modeling with active transfer learning.</a:t>
            </a:r>
          </a:p>
          <a:p>
            <a:pPr>
              <a:spcAft>
                <a:spcPts val="600"/>
              </a:spcAft>
              <a:defRPr sz="1050"/>
            </a:pPr>
            <a:r>
              <a:rPr sz="1200" dirty="0"/>
              <a:t>12. Jiao &amp; Tan, 2024 — Thermal comfort prediction in tropical regions.</a:t>
            </a:r>
          </a:p>
          <a:p>
            <a:pPr>
              <a:spcAft>
                <a:spcPts val="600"/>
              </a:spcAft>
              <a:defRPr sz="1050"/>
            </a:pPr>
            <a:r>
              <a:rPr sz="1200" dirty="0"/>
              <a:t>13. Alam et al., 2024 — ML approach for personal thermal comfort in Malaysian offices.</a:t>
            </a:r>
          </a:p>
          <a:p>
            <a:pPr>
              <a:spcAft>
                <a:spcPts val="600"/>
              </a:spcAft>
              <a:defRPr sz="1050"/>
            </a:pPr>
            <a:r>
              <a:rPr sz="1200" dirty="0"/>
              <a:t>14. Li et al., 2025 — ML thermal comfort prediction using SMOTE and SHAP.</a:t>
            </a:r>
          </a:p>
          <a:p>
            <a:pPr>
              <a:spcAft>
                <a:spcPts val="600"/>
              </a:spcAft>
              <a:defRPr sz="1050"/>
            </a:pPr>
            <a:r>
              <a:rPr sz="1200" dirty="0"/>
              <a:t>15. Hot-humid climate ML study,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94360" y="211455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1248</Words>
  <Application>Microsoft Office PowerPoint</Application>
  <PresentationFormat>On-screen Show (16:9)</PresentationFormat>
  <Paragraphs>187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Vardhan Sharma</cp:lastModifiedBy>
  <cp:revision>5</cp:revision>
  <dcterms:created xsi:type="dcterms:W3CDTF">2021-11-15T01:51:00Z</dcterms:created>
  <dcterms:modified xsi:type="dcterms:W3CDTF">2026-09-22T18:15:03Z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2021-01-02T11:00:00Z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2021-11-15T11:00:00Z</vt:filetime>
  </property>
  <property fmtid="{D5CDD505-2E9C-101B-9397-08002B2CF9AE}" pid="5" name="ICV">
    <vt:lpwstr>FAF86A89265548D28D0874290B1A1472_12</vt:lpwstr>
  </property>
  <property fmtid="{D5CDD505-2E9C-101B-9397-08002B2CF9AE}" pid="6" name="KSOProductBuildVer">
    <vt:lpwstr>1033-12.1.0.27458</vt:lpwstr>
  </property>
</Properties>
</file>